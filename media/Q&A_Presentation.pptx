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>
        <p:scale>
          <a:sx n="100" d="100"/>
          <a:sy n="100" d="100"/>
        </p:scale>
        <p:origin x="9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4C4B2-7BAB-B74C-665F-C3524A57AE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0B66AB-CE64-28E0-BC45-B09DCC8866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97603-625C-FC1A-7459-D00644D9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28460-F3B4-4D11-A27B-52FFCED9F83E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78E5B4-518E-6072-F6F4-4BBF8F37E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40ED92-1663-8134-3AF2-BB4B9FE50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FDB34-9899-468B-809E-E9F5BB6057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7533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455D5-D026-2473-28FE-89E4E5564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30F26-C371-A93F-7063-37F388945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86408-D8C2-2A87-ECCD-4F6597861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28460-F3B4-4D11-A27B-52FFCED9F83E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3005D-A7A7-4FAF-9A35-0EA17C083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1A030-6890-B3CD-5B97-6845625EA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FDB34-9899-468B-809E-E9F5BB6057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0669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92A9F-050B-64D8-5B01-AD00DA336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555C3C-5A3D-9130-0BC7-C3C5DF1418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AB539-6AC5-9ADC-0F55-4E6EB3BEB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28460-F3B4-4D11-A27B-52FFCED9F83E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EA277D-1AE0-F948-6459-4C1D4A945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71D18-A5FE-5B97-9553-AF98A275D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FDB34-9899-468B-809E-E9F5BB6057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6791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7C901-E1C5-C002-3C22-A3BB1C12A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F78BE-01D6-C2F9-DBC8-6C377F65E4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930CCA-4650-1259-EBFB-C0193CF5C9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54BE9E-D348-E301-1B03-764F2C87F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28460-F3B4-4D11-A27B-52FFCED9F83E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EC2CE-527B-C033-A944-8D1811A47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972E0A-C611-0E41-1D27-5F83310E9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FDB34-9899-468B-809E-E9F5BB6057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3380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A5F2E-F20E-134B-FD0A-F4FEE2DFB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9B69E6-EFE0-9AAA-3A39-A037AD4C07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0B9E3A-4D00-C610-85E3-E8EB5443B6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908F35-C93C-5EA3-0113-3F2892695D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E83017-F850-5828-E8CE-7D0009EF0C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A86195-20FF-2043-B99A-81EA56665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28460-F3B4-4D11-A27B-52FFCED9F83E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3686DC-2198-4DEC-E1C2-B589E0138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7229FA-F30D-93FB-0F0F-E62E398E6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FDB34-9899-468B-809E-E9F5BB6057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50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CA479-802B-0633-ADD1-02370A528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294B6C-6421-6432-8141-0851A1F8B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28460-F3B4-4D11-A27B-52FFCED9F83E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6ECAA3-54DA-E2EF-5593-93F3C8C91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6641B6-6EC4-76D9-AD5B-EF24E784C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FDB34-9899-468B-809E-E9F5BB6057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5584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F650CB-75B1-7051-E4F3-A5E8C3286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28460-F3B4-4D11-A27B-52FFCED9F83E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535875-25ED-68C3-B83E-24919F25D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51A8B8-1BE3-9444-261E-7EAB1C90B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FDB34-9899-468B-809E-E9F5BB6057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8051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80965-768A-53D8-39F6-7FAF7DF3F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AE893-E94F-3429-9582-AB9BBB765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21D65A-0E9C-83C4-CDE5-EDE67E8EED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5AF9A6-65FE-17E1-2A36-4D7B5D344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28460-F3B4-4D11-A27B-52FFCED9F83E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EFD2FC-4F7D-0154-A922-1E86196AB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CA2603-D10E-5C63-E1AD-E8B039379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FDB34-9899-468B-809E-E9F5BB6057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9271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3BCD0-62C4-8E99-F183-4A23317A6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726963-997E-10AC-F6C7-00775FDE36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A88200-2B58-6B3B-A020-22DBBACE85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BBC8F1-7AEB-F902-0D7C-068C82204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28460-F3B4-4D11-A27B-52FFCED9F83E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CA3A69-39C6-E1BB-8132-53137AD25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CB70D2-AD56-5C6D-4A89-E1804C412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FDB34-9899-468B-809E-E9F5BB6057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3721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E9A64-71A1-00FE-F034-26C77F9E7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DA65FC-3A8F-41D7-B028-9C0B93DBBC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4E20B7-6C03-3DD6-0C19-E21A84CAF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28460-F3B4-4D11-A27B-52FFCED9F83E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510B94-5B94-9519-7782-E2C6D1525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D82EF-CD7C-4B43-D220-168BF60DB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FDB34-9899-468B-809E-E9F5BB6057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120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BD6299-A2BC-424D-5E37-19C9832ABC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634CC8-1CCB-43D4-2F41-2865AC19C4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C2619-D980-A8B3-C96B-DB1DDCD7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28460-F3B4-4D11-A27B-52FFCED9F83E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1952-FF83-D9FF-AEB4-E5000F5CC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0A4FA-B3ED-7089-8FEC-7182ADAE0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FDB34-9899-468B-809E-E9F5BB6057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8671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9DB1AD-AD43-850E-265B-761B8CEBD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0639E6-FB10-B60E-8E24-6422F460A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B785F-D830-7130-F123-B20F1F5CCE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728460-F3B4-4D11-A27B-52FFCED9F83E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C15C10-3315-6C69-C5AF-4B6FA0EA94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AD356-4039-DD0A-73CE-1978CBD87B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BFDB34-9899-468B-809E-E9F5BB6057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7790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09800" y="209969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613162" y="1492572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317915-0895-753B-86AC-2364B24FCC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1717" y="1799473"/>
            <a:ext cx="7120632" cy="2751086"/>
          </a:xfrm>
        </p:spPr>
        <p:txBody>
          <a:bodyPr>
            <a:normAutofit/>
          </a:bodyPr>
          <a:lstStyle/>
          <a:p>
            <a:pPr algn="r"/>
            <a:r>
              <a:rPr lang="en-GB" sz="4000" b="1" dirty="0"/>
              <a:t>Autonomous Gas Leak Detection In Distilleries Using A Mobile Robotic Sensor Platform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8EDC17-8D43-A372-7583-6E4186DECF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9825" y="4910441"/>
            <a:ext cx="9422524" cy="1329443"/>
          </a:xfrm>
        </p:spPr>
        <p:txBody>
          <a:bodyPr>
            <a:normAutofit/>
          </a:bodyPr>
          <a:lstStyle/>
          <a:p>
            <a:pPr algn="r"/>
            <a:r>
              <a:rPr lang="en-GB" dirty="0"/>
              <a:t>BSc Computer Science (Artificial Intelligence) - </a:t>
            </a:r>
            <a:r>
              <a:rPr lang="en-GB" b="1" dirty="0"/>
              <a:t>Aadham Ahmad</a:t>
            </a:r>
          </a:p>
          <a:p>
            <a:pPr algn="r"/>
            <a:r>
              <a:rPr lang="en-GB" dirty="0"/>
              <a:t>Supervised by </a:t>
            </a:r>
            <a:r>
              <a:rPr lang="en-GB" b="1" dirty="0"/>
              <a:t>Dr. Alistair McConnell</a:t>
            </a:r>
          </a:p>
        </p:txBody>
      </p:sp>
    </p:spTree>
    <p:extLst>
      <p:ext uri="{BB962C8B-B14F-4D97-AF65-F5344CB8AC3E}">
        <p14:creationId xmlns:p14="http://schemas.microsoft.com/office/powerpoint/2010/main" val="1795579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0740DE-A349-1F83-3AA5-E400728E8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GB" sz="5400" b="1"/>
              <a:t>Problem &amp; Motivation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7CB6B-4571-8142-8F9C-2C49E03165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200" b="1" dirty="0"/>
              <a:t>Gas leaks in distilleries are dangerous</a:t>
            </a:r>
            <a:endParaRPr lang="en-GB" sz="2200" dirty="0"/>
          </a:p>
          <a:p>
            <a:pPr lvl="1"/>
            <a:r>
              <a:rPr lang="en-GB" sz="2200" b="1" dirty="0"/>
              <a:t>Ethanol =&gt; </a:t>
            </a:r>
            <a:r>
              <a:rPr lang="en-GB" sz="2200" i="1" dirty="0"/>
              <a:t>flammable </a:t>
            </a:r>
          </a:p>
          <a:p>
            <a:pPr lvl="1"/>
            <a:r>
              <a:rPr lang="en-GB" sz="2200" b="1" dirty="0"/>
              <a:t>Methane =&gt; </a:t>
            </a:r>
            <a:r>
              <a:rPr lang="en-GB" sz="2200" i="1" dirty="0"/>
              <a:t>explosive</a:t>
            </a:r>
            <a:r>
              <a:rPr lang="en-GB" sz="2200" dirty="0"/>
              <a:t> </a:t>
            </a:r>
            <a:endParaRPr lang="en-GB" sz="2200" i="1" dirty="0"/>
          </a:p>
          <a:p>
            <a:pPr lvl="1"/>
            <a:r>
              <a:rPr lang="en-GB" sz="2200" b="1" dirty="0"/>
              <a:t>CO₂ =&gt; </a:t>
            </a:r>
            <a:r>
              <a:rPr lang="en-GB" sz="2200" i="1" dirty="0"/>
              <a:t>asphyxiation risk</a:t>
            </a:r>
          </a:p>
          <a:p>
            <a:pPr marL="457200" lvl="1" indent="0">
              <a:buNone/>
            </a:pPr>
            <a:endParaRPr lang="en-GB" sz="2200" b="1" dirty="0"/>
          </a:p>
          <a:p>
            <a:pPr marL="0" indent="0">
              <a:buNone/>
            </a:pPr>
            <a:r>
              <a:rPr lang="en-GB" sz="2200" b="1" dirty="0"/>
              <a:t>Current monitoring is limited:</a:t>
            </a:r>
            <a:endParaRPr lang="en-GB" sz="2200" dirty="0"/>
          </a:p>
          <a:p>
            <a:pPr lvl="1"/>
            <a:r>
              <a:rPr lang="en-GB" sz="2200" dirty="0"/>
              <a:t>Fixed sensors =&gt; poor spatial coverage </a:t>
            </a:r>
          </a:p>
          <a:p>
            <a:pPr lvl="1"/>
            <a:r>
              <a:rPr lang="en-GB" sz="2200" dirty="0"/>
              <a:t>Manual </a:t>
            </a:r>
            <a:r>
              <a:rPr lang="en-GB" sz="2200"/>
              <a:t>inspection =&gt; </a:t>
            </a:r>
            <a:r>
              <a:rPr lang="en-GB" sz="2200" dirty="0"/>
              <a:t>slow &amp; unsafe </a:t>
            </a:r>
          </a:p>
          <a:p>
            <a:pPr marL="0" indent="0">
              <a:buNone/>
            </a:pPr>
            <a:endParaRPr lang="en-GB" sz="2200" b="1" dirty="0"/>
          </a:p>
          <a:p>
            <a:pPr marL="0" indent="0">
              <a:buNone/>
            </a:pPr>
            <a:r>
              <a:rPr lang="en-GB" sz="2200" b="1" dirty="0"/>
              <a:t>Problem:</a:t>
            </a:r>
            <a:r>
              <a:rPr lang="en-GB" sz="2200" dirty="0"/>
              <a:t> Monitoring is reactive, not proactive</a:t>
            </a:r>
          </a:p>
          <a:p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434128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D324A0-3EB7-CCA0-41BF-1EBF8D82E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GB" sz="4600" b="1"/>
              <a:t>Aim &amp; Contributions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AEFDB-860C-9A08-50DB-2B64F8A52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200" b="1" dirty="0"/>
              <a:t>Develop an autonomous system to detect and localise gas leaks</a:t>
            </a:r>
          </a:p>
          <a:p>
            <a:endParaRPr lang="en-GB" sz="2200" b="1" dirty="0"/>
          </a:p>
          <a:p>
            <a:pPr marL="0" indent="0">
              <a:buNone/>
            </a:pPr>
            <a:r>
              <a:rPr lang="en-GB" sz="2200" dirty="0"/>
              <a:t>Key Contributions for proposed mobile robotic platform including:</a:t>
            </a:r>
          </a:p>
          <a:p>
            <a:pPr lvl="2"/>
            <a:r>
              <a:rPr lang="en-GB" sz="2200" dirty="0"/>
              <a:t>Sensor payload using low-cost sensors</a:t>
            </a:r>
          </a:p>
          <a:p>
            <a:pPr lvl="2"/>
            <a:r>
              <a:rPr lang="en-GB" sz="2200" dirty="0"/>
              <a:t>Lightweight embedded firmware</a:t>
            </a:r>
          </a:p>
          <a:p>
            <a:pPr lvl="2"/>
            <a:r>
              <a:rPr lang="en-GB" sz="2200" dirty="0"/>
              <a:t>Gas distribution mapping </a:t>
            </a:r>
            <a:r>
              <a:rPr lang="en-GB" sz="2200" i="1" dirty="0"/>
              <a:t>(GDM) </a:t>
            </a:r>
          </a:p>
          <a:p>
            <a:pPr lvl="2"/>
            <a:r>
              <a:rPr lang="en-GB" sz="2200" dirty="0"/>
              <a:t>Gas source localisation </a:t>
            </a:r>
            <a:r>
              <a:rPr lang="en-GB" sz="2200" i="1" dirty="0"/>
              <a:t>(GSL) </a:t>
            </a:r>
          </a:p>
        </p:txBody>
      </p:sp>
    </p:spTree>
    <p:extLst>
      <p:ext uri="{BB962C8B-B14F-4D97-AF65-F5344CB8AC3E}">
        <p14:creationId xmlns:p14="http://schemas.microsoft.com/office/powerpoint/2010/main" val="2081365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8C1EB6-F9BC-E88F-F732-2D9E1FEB4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System Overview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D1AB08B-1873-351D-2992-EB3F97B675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823" y="1845426"/>
            <a:ext cx="10471301" cy="445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374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C9A9DA9-7DC8-488B-A882-123947B0F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5" y="633619"/>
            <a:ext cx="427938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97E47D-0269-F0FD-60AB-7DD54EB1B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7" y="978619"/>
            <a:ext cx="3410712" cy="1106424"/>
          </a:xfrm>
        </p:spPr>
        <p:txBody>
          <a:bodyPr>
            <a:normAutofit/>
          </a:bodyPr>
          <a:lstStyle/>
          <a:p>
            <a:r>
              <a:rPr lang="en-GB" sz="3200" b="1" dirty="0"/>
              <a:t>Hardware Setup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7" y="1171300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9" y="2093976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2D6F4-878C-28F8-2DFA-55FD66BE9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2252870"/>
            <a:ext cx="3412219" cy="35602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700" b="1" dirty="0"/>
              <a:t>Robotic Platform</a:t>
            </a:r>
            <a:endParaRPr lang="en-GB" sz="1700" dirty="0"/>
          </a:p>
          <a:p>
            <a:r>
              <a:rPr lang="en-GB" sz="1600" dirty="0"/>
              <a:t>TurtleBot3 (LiDAR-based SLAM) </a:t>
            </a:r>
          </a:p>
          <a:p>
            <a:pPr marL="0" indent="0">
              <a:buNone/>
            </a:pPr>
            <a:r>
              <a:rPr lang="en-GB" sz="1700" b="1" dirty="0"/>
              <a:t>Sensor Payload</a:t>
            </a:r>
            <a:endParaRPr lang="en-GB" sz="1700" dirty="0"/>
          </a:p>
          <a:p>
            <a:r>
              <a:rPr lang="en-GB" sz="1600" dirty="0"/>
              <a:t>MOX gas sensors (BME690) </a:t>
            </a:r>
          </a:p>
          <a:p>
            <a:r>
              <a:rPr lang="en-GB" sz="1600" dirty="0"/>
              <a:t>Wind sensors (air velocity) </a:t>
            </a:r>
          </a:p>
          <a:p>
            <a:r>
              <a:rPr lang="en-GB" sz="1600" dirty="0"/>
              <a:t>Particulate sensor (SPS30) </a:t>
            </a:r>
          </a:p>
          <a:p>
            <a:pPr marL="0" indent="0">
              <a:buNone/>
            </a:pPr>
            <a:r>
              <a:rPr lang="en-GB" sz="1700" b="1" dirty="0"/>
              <a:t>Processing</a:t>
            </a:r>
            <a:endParaRPr lang="en-GB" sz="1700" dirty="0"/>
          </a:p>
          <a:p>
            <a:r>
              <a:rPr lang="en-GB" sz="1600" dirty="0"/>
              <a:t>ESP32 (sensor interface) </a:t>
            </a:r>
          </a:p>
          <a:p>
            <a:r>
              <a:rPr lang="en-GB" sz="1600" dirty="0"/>
              <a:t>Jetson Nano (proposed onboard computation)</a:t>
            </a:r>
          </a:p>
          <a:p>
            <a:endParaRPr lang="en-GB" sz="1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5B3B9B-1B08-FA42-8432-237C7B37D4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8240" y="1232055"/>
            <a:ext cx="6946864" cy="4393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788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C8BDED-F790-EA1F-D013-DF977F49F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GB" sz="5000" b="1"/>
              <a:t>Gas Distribution Mapping (GDM)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5D682-DC7B-784B-F2BB-412A8AB98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GB" sz="2200" b="1" dirty="0"/>
              <a:t>Goal:</a:t>
            </a:r>
            <a:r>
              <a:rPr lang="en-GB" sz="2200" dirty="0"/>
              <a:t> Estimate gas concentration across space</a:t>
            </a:r>
          </a:p>
          <a:p>
            <a:r>
              <a:rPr lang="en-GB" sz="2200" dirty="0"/>
              <a:t>Robot collects: </a:t>
            </a:r>
          </a:p>
          <a:p>
            <a:pPr lvl="1"/>
            <a:r>
              <a:rPr lang="en-GB" sz="2200" dirty="0"/>
              <a:t>Gas readings </a:t>
            </a:r>
          </a:p>
          <a:p>
            <a:pPr lvl="1"/>
            <a:r>
              <a:rPr lang="en-GB" sz="2200" dirty="0"/>
              <a:t>Position </a:t>
            </a:r>
          </a:p>
          <a:p>
            <a:pPr lvl="1"/>
            <a:r>
              <a:rPr lang="en-GB" sz="2200" dirty="0"/>
              <a:t>Wind data </a:t>
            </a:r>
          </a:p>
          <a:p>
            <a:r>
              <a:rPr lang="en-GB" sz="2200" dirty="0"/>
              <a:t>Builds a </a:t>
            </a:r>
            <a:r>
              <a:rPr lang="en-GB" sz="2200" b="1" dirty="0"/>
              <a:t>2D gas map</a:t>
            </a: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2148077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F036BA-A4A3-759D-CD93-2C26BB801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A864E4-E35C-0779-9AC8-0ABF6467D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1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Gas Source Localisation (GSL)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8A65FE-7F68-2049-5E60-4510FE58C7A4}"/>
              </a:ext>
            </a:extLst>
          </p:cNvPr>
          <p:cNvSpPr txBox="1"/>
          <p:nvPr/>
        </p:nvSpPr>
        <p:spPr>
          <a:xfrm>
            <a:off x="638881" y="1809541"/>
            <a:ext cx="10909643" cy="687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 b="1" i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GSL using PMFS strategy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59A9B7-04E3-4F82-BC41-3E64EBF46D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875" y="2633472"/>
            <a:ext cx="9315201" cy="3586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409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34C9CA-7F4E-135C-6E30-A79747F98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0405E4-6DDC-3263-1475-59BB2DA85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826" y="586822"/>
            <a:ext cx="4526280" cy="1645920"/>
          </a:xfrm>
        </p:spPr>
        <p:txBody>
          <a:bodyPr>
            <a:normAutofit/>
          </a:bodyPr>
          <a:lstStyle/>
          <a:p>
            <a:r>
              <a:rPr lang="en-GB" sz="3100" b="1" dirty="0"/>
              <a:t>Comparative Evaluation of GSL Methods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010A8-7EFB-58E9-768C-E473ADCE2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06" y="586822"/>
            <a:ext cx="6106742" cy="164592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200" b="1" dirty="0"/>
              <a:t>Evaluated 6 GSL Methods:</a:t>
            </a:r>
          </a:p>
          <a:p>
            <a:pPr marL="0" indent="0">
              <a:buNone/>
            </a:pPr>
            <a:r>
              <a:rPr lang="en-GB" sz="1800" b="1" i="1" dirty="0"/>
              <a:t>Probabilistic Methods:  </a:t>
            </a:r>
            <a:r>
              <a:rPr lang="en-GB" sz="1800" dirty="0"/>
              <a:t>PMFS,  GrGSL</a:t>
            </a:r>
          </a:p>
          <a:p>
            <a:pPr marL="0" indent="0">
              <a:buNone/>
            </a:pPr>
            <a:r>
              <a:rPr lang="en-GB" sz="1800" b="1" i="1" dirty="0"/>
              <a:t>Reactive Methods:  </a:t>
            </a:r>
            <a:r>
              <a:rPr lang="en-GB" sz="1800" dirty="0"/>
              <a:t>Spiral,  Surge-Cast,  Surge-Spiral,  Particle Filter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D411772-A5A1-C6B3-DAFA-29CAEAFB21DB}"/>
              </a:ext>
            </a:extLst>
          </p:cNvPr>
          <p:cNvGrpSpPr/>
          <p:nvPr/>
        </p:nvGrpSpPr>
        <p:grpSpPr>
          <a:xfrm>
            <a:off x="365759" y="3022285"/>
            <a:ext cx="5481509" cy="3083687"/>
            <a:chOff x="365759" y="2776101"/>
            <a:chExt cx="5481509" cy="308368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10ECFD8-1474-534F-2A8D-5B90FBEDEE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65759" y="3147670"/>
              <a:ext cx="5481509" cy="2712118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CC225DB-D07E-B3F8-D0C9-D1573ABB824E}"/>
                </a:ext>
              </a:extLst>
            </p:cNvPr>
            <p:cNvSpPr txBox="1"/>
            <p:nvPr/>
          </p:nvSpPr>
          <p:spPr>
            <a:xfrm>
              <a:off x="1386486" y="2776101"/>
              <a:ext cx="348512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b="1" dirty="0"/>
                <a:t>Convergence Time for GSL Methods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4868608-BE7E-0A6E-62CA-FE3632F1E2EC}"/>
              </a:ext>
            </a:extLst>
          </p:cNvPr>
          <p:cNvGrpSpPr/>
          <p:nvPr/>
        </p:nvGrpSpPr>
        <p:grpSpPr>
          <a:xfrm>
            <a:off x="6258093" y="3022285"/>
            <a:ext cx="5523082" cy="3071860"/>
            <a:chOff x="6258093" y="2776101"/>
            <a:chExt cx="5523082" cy="307186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13A5B38-6A58-5635-B44B-A98E5E994C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258093" y="3115274"/>
              <a:ext cx="5523082" cy="2732687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4D827DA-081D-FCBF-757B-9BF5EAF032A2}"/>
                </a:ext>
              </a:extLst>
            </p:cNvPr>
            <p:cNvSpPr txBox="1"/>
            <p:nvPr/>
          </p:nvSpPr>
          <p:spPr>
            <a:xfrm>
              <a:off x="7706139" y="2776101"/>
              <a:ext cx="309937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b="1" dirty="0"/>
                <a:t>Error Distance for GSL Methods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77903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D5B0D2-7758-0820-6410-62CE48B92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63632C-1D00-755C-68FD-0393AD8D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GB" sz="5400" b="1"/>
              <a:t>Limitations &amp; Future Work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AA4CC-F496-85B3-9911-EEE54ED58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400" b="1" dirty="0"/>
              <a:t>Limitations</a:t>
            </a:r>
            <a:endParaRPr lang="en-GB" sz="2200" dirty="0"/>
          </a:p>
          <a:p>
            <a:pPr lvl="1"/>
            <a:r>
              <a:rPr lang="en-GB" sz="2200" dirty="0"/>
              <a:t>Simulation-based evaluation </a:t>
            </a:r>
          </a:p>
          <a:p>
            <a:pPr lvl="1"/>
            <a:r>
              <a:rPr lang="en-GB" sz="2200" dirty="0"/>
              <a:t>2D modelling of gas flow </a:t>
            </a:r>
          </a:p>
          <a:p>
            <a:pPr lvl="1"/>
            <a:r>
              <a:rPr lang="en-GB" sz="2200" dirty="0"/>
              <a:t>Sensor noise &amp; delay </a:t>
            </a:r>
          </a:p>
          <a:p>
            <a:pPr lvl="1"/>
            <a:endParaRPr lang="en-GB" sz="2200" dirty="0"/>
          </a:p>
          <a:p>
            <a:pPr marL="0" indent="0">
              <a:buNone/>
            </a:pPr>
            <a:r>
              <a:rPr lang="en-GB" sz="2400" b="1" dirty="0"/>
              <a:t>Future Work</a:t>
            </a:r>
            <a:endParaRPr lang="en-GB" sz="2400" dirty="0"/>
          </a:p>
          <a:p>
            <a:pPr lvl="1"/>
            <a:r>
              <a:rPr lang="en-GB" sz="2200" dirty="0"/>
              <a:t>Real-world deployment </a:t>
            </a:r>
          </a:p>
          <a:p>
            <a:pPr lvl="1"/>
            <a:r>
              <a:rPr lang="en-GB" sz="2200" dirty="0"/>
              <a:t>3D gas modelling </a:t>
            </a:r>
          </a:p>
          <a:p>
            <a:pPr lvl="1"/>
            <a:r>
              <a:rPr lang="en-GB" sz="2200" dirty="0"/>
              <a:t>Improved sensor fusion</a:t>
            </a:r>
          </a:p>
        </p:txBody>
      </p:sp>
    </p:spTree>
    <p:extLst>
      <p:ext uri="{BB962C8B-B14F-4D97-AF65-F5344CB8AC3E}">
        <p14:creationId xmlns:p14="http://schemas.microsoft.com/office/powerpoint/2010/main" val="9996412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74FB2F-D5DE-CC94-70AA-4D685A705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011644-5F4C-3D0A-9F96-977CE28FB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GB" sz="5400" b="1" dirty="0"/>
              <a:t>Conclusion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78099-9EA3-2347-E530-877C7FD9E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GB" sz="2200" dirty="0"/>
              <a:t>Developed an autonomous gas detection system </a:t>
            </a:r>
          </a:p>
          <a:p>
            <a:r>
              <a:rPr lang="en-GB" sz="2200" dirty="0"/>
              <a:t>Demonstrated GDM + GSL</a:t>
            </a:r>
          </a:p>
          <a:p>
            <a:r>
              <a:rPr lang="en-GB" sz="2200" dirty="0"/>
              <a:t>Shows potential for safer industrial monitoring </a:t>
            </a:r>
          </a:p>
        </p:txBody>
      </p:sp>
    </p:spTree>
    <p:extLst>
      <p:ext uri="{BB962C8B-B14F-4D97-AF65-F5344CB8AC3E}">
        <p14:creationId xmlns:p14="http://schemas.microsoft.com/office/powerpoint/2010/main" val="2480334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274</Words>
  <Application>Microsoft Office PowerPoint</Application>
  <PresentationFormat>Widescreen</PresentationFormat>
  <Paragraphs>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Autonomous Gas Leak Detection In Distilleries Using A Mobile Robotic Sensor Platform</vt:lpstr>
      <vt:lpstr>Problem &amp; Motivation</vt:lpstr>
      <vt:lpstr>Aim &amp; Contributions</vt:lpstr>
      <vt:lpstr>System Overview</vt:lpstr>
      <vt:lpstr>Hardware Setup</vt:lpstr>
      <vt:lpstr>Gas Distribution Mapping (GDM)</vt:lpstr>
      <vt:lpstr>Gas Source Localisation (GSL)</vt:lpstr>
      <vt:lpstr>Comparative Evaluation of GSL Methods</vt:lpstr>
      <vt:lpstr>Limitations &amp; Future Work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Ahmad, Aadham</dc:creator>
  <cp:lastModifiedBy>Ahmad, Aadham</cp:lastModifiedBy>
  <cp:revision>22</cp:revision>
  <dcterms:created xsi:type="dcterms:W3CDTF">2026-04-21T09:16:20Z</dcterms:created>
  <dcterms:modified xsi:type="dcterms:W3CDTF">2026-04-21T11:02:16Z</dcterms:modified>
</cp:coreProperties>
</file>